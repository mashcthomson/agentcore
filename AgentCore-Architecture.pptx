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3" r:id="rId5"/>
    <p:sldId id="258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AgentCore Tutorial — System Architecture</a:t>
            </a:r>
          </a:p>
          <a:p>
            <a:r>
              <a:rPr sz="1800">
                <a:solidFill>
                  <a:srgbClr val="FF9900"/>
                </a:solidFill>
                <a:latin typeface="Calibri"/>
              </a:rPr>
              <a:t>What gets built at each level: single agent → multi-agent A2A → external tools via MCP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B3D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44444"/>
                </a:solidFill>
                <a:latin typeface="Calibri"/>
              </a:rPr>
              <a:t>From zero to a production-grade multi-agent research system.</a:t>
            </a:r>
          </a:p>
          <a:p>
            <a:pPr algn="l"/>
            <a:endParaRPr sz="2400" b="1">
              <a:solidFill>
                <a:srgbClr val="444444"/>
              </a:solidFill>
              <a:latin typeface="Calibri"/>
            </a:endParaRPr>
          </a:p>
          <a:p>
            <a:pPr algn="l"/>
            <a:r>
              <a:rPr sz="2200" b="0">
                <a:solidFill>
                  <a:srgbClr val="444444"/>
                </a:solidFill>
                <a:latin typeface="Calibri"/>
              </a:rPr>
              <a:t>• Deploy agents to AgentCore Runtime</a:t>
            </a:r>
          </a:p>
          <a:p>
            <a:pPr algn="l"/>
            <a:r>
              <a:rPr sz="2200" b="0">
                <a:solidFill>
                  <a:srgbClr val="444444"/>
                </a:solidFill>
                <a:latin typeface="Calibri"/>
              </a:rPr>
              <a:t>• Wire them together using the A2A protocol</a:t>
            </a:r>
          </a:p>
          <a:p>
            <a:pPr algn="l"/>
            <a:r>
              <a:rPr sz="2200" b="0">
                <a:solidFill>
                  <a:srgbClr val="444444"/>
                </a:solidFill>
                <a:latin typeface="Calibri"/>
              </a:rPr>
              <a:t>• Extend them with external tools via MCP Gateway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3D"/>
                </a:solidFill>
                <a:latin typeface="Calibri"/>
              </a:rPr>
              <a:t>Overall System — Production Multi-Agent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Calibri"/>
              </a:rPr>
              <a:t>End state after Tutorial 04: orchestrator delegates to a specialist, which reaches external tools through one gateway.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554480" cy="1005840"/>
          </a:xfrm>
          <a:prstGeom prst="roundRect">
            <a:avLst/>
          </a:prstGeom>
          <a:solidFill>
            <a:srgbClr val="3747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agentcore invoke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JSON-RPC 2.0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697480"/>
            <a:ext cx="2011680" cy="1097280"/>
          </a:xfrm>
          <a:prstGeom prst="roundRect">
            <a:avLst/>
          </a:prstGeom>
          <a:solidFill>
            <a:srgbClr val="1F6F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Orchestrator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A2A Server :9000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routes / delegates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2697480"/>
            <a:ext cx="2011680" cy="1097280"/>
          </a:xfrm>
          <a:prstGeom prst="roundRect">
            <a:avLst/>
          </a:prstGeom>
          <a:solidFill>
            <a:srgbClr val="1F6F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 Specialist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A2A Server :9000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tool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697480"/>
            <a:ext cx="1828800" cy="1097280"/>
          </a:xfrm>
          <a:prstGeom prst="roundRect">
            <a:avLst/>
          </a:prstGeom>
          <a:solidFill>
            <a:srgbClr val="7A3E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MCP Gateway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IAM SigV4 auth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semantic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331720"/>
            <a:ext cx="4937760" cy="1874519"/>
          </a:xfrm>
          <a:prstGeom prst="roundRect">
            <a:avLst/>
          </a:prstGeom>
          <a:noFill/>
          <a:ln w="22225">
            <a:solidFill>
              <a:srgbClr val="FF99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9933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  <a:latin typeface="Calibri"/>
              </a:rPr>
              <a:t>AgentCore Runtime (managed, SigV4-secured)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60" y="1417320"/>
            <a:ext cx="1554480" cy="868680"/>
          </a:xfrm>
          <a:prstGeom prst="roundRect">
            <a:avLst/>
          </a:prstGeom>
          <a:solidFill>
            <a:srgbClr val="6B5B9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PubMed API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OpenAPI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2743200"/>
            <a:ext cx="1554480" cy="868680"/>
          </a:xfrm>
          <a:prstGeom prst="roundRect">
            <a:avLst/>
          </a:prstGeom>
          <a:solidFill>
            <a:srgbClr val="2E8B5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Citation Mgr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Lambda (SAM)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95560" y="4069080"/>
            <a:ext cx="1554480" cy="868680"/>
          </a:xfrm>
          <a:prstGeom prst="roundRect">
            <a:avLst/>
          </a:prstGeom>
          <a:solidFill>
            <a:srgbClr val="2E8B5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Paper Summaries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4892040"/>
            <a:ext cx="3017520" cy="868680"/>
          </a:xfrm>
          <a:prstGeom prst="roundRect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Amazon Bedrock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Claude Haiku 4.5 (au. inference profile)</a:t>
            </a:r>
          </a:p>
        </p:txBody>
      </p:sp>
      <p:cxnSp>
        <p:nvCxnSpPr>
          <p:cNvPr id="15" name="Connector 14"/>
          <p:cNvCxnSpPr>
            <a:stCxn id="5" idx="3"/>
            <a:endCxn id="6" idx="3"/>
          </p:cNvCxnSpPr>
          <p:nvPr/>
        </p:nvCxnSpPr>
        <p:spPr>
          <a:xfrm>
            <a:off x="2103120" y="3246120"/>
            <a:ext cx="256032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63624" y="3794760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invoke</a:t>
            </a:r>
          </a:p>
        </p:txBody>
      </p:sp>
      <p:cxnSp>
        <p:nvCxnSpPr>
          <p:cNvPr id="17" name="Connector 16"/>
          <p:cNvCxnSpPr>
            <a:stCxn id="6" idx="3"/>
            <a:endCxn id="7" idx="3"/>
          </p:cNvCxnSpPr>
          <p:nvPr/>
        </p:nvCxnSpPr>
        <p:spPr>
          <a:xfrm>
            <a:off x="4663440" y="3246120"/>
            <a:ext cx="269748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35335" y="3850603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A2A</a:t>
            </a:r>
          </a:p>
        </p:txBody>
      </p:sp>
      <p:cxnSp>
        <p:nvCxnSpPr>
          <p:cNvPr id="19" name="Connector 18"/>
          <p:cNvCxnSpPr>
            <a:cxnSpLocks/>
            <a:stCxn id="7" idx="3"/>
            <a:endCxn id="8" idx="1"/>
          </p:cNvCxnSpPr>
          <p:nvPr/>
        </p:nvCxnSpPr>
        <p:spPr>
          <a:xfrm>
            <a:off x="7360920" y="3246120"/>
            <a:ext cx="73152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0" y="4242817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MCP</a:t>
            </a:r>
          </a:p>
        </p:txBody>
      </p:sp>
      <p:cxnSp>
        <p:nvCxnSpPr>
          <p:cNvPr id="21" name="Connector 20"/>
          <p:cNvCxnSpPr>
            <a:cxnSpLocks/>
            <a:stCxn id="8" idx="3"/>
            <a:endCxn id="11" idx="1"/>
          </p:cNvCxnSpPr>
          <p:nvPr/>
        </p:nvCxnSpPr>
        <p:spPr>
          <a:xfrm flipV="1">
            <a:off x="9921240" y="1851660"/>
            <a:ext cx="274320" cy="139446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stCxn id="8" idx="3"/>
            <a:endCxn id="12" idx="1"/>
          </p:cNvCxnSpPr>
          <p:nvPr/>
        </p:nvCxnSpPr>
        <p:spPr>
          <a:xfrm flipV="1">
            <a:off x="9921240" y="3177540"/>
            <a:ext cx="274320" cy="6858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8" idx="3"/>
            <a:endCxn id="13" idx="1"/>
          </p:cNvCxnSpPr>
          <p:nvPr/>
        </p:nvCxnSpPr>
        <p:spPr>
          <a:xfrm>
            <a:off x="9921240" y="3246120"/>
            <a:ext cx="274320" cy="125730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6" idx="2"/>
            <a:endCxn id="14" idx="0"/>
          </p:cNvCxnSpPr>
          <p:nvPr/>
        </p:nvCxnSpPr>
        <p:spPr>
          <a:xfrm>
            <a:off x="3657600" y="3794760"/>
            <a:ext cx="1828799" cy="1097280"/>
          </a:xfrm>
          <a:prstGeom prst="line">
            <a:avLst/>
          </a:prstGeom>
          <a:ln w="22225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7" idx="2"/>
            <a:endCxn id="14" idx="0"/>
          </p:cNvCxnSpPr>
          <p:nvPr/>
        </p:nvCxnSpPr>
        <p:spPr>
          <a:xfrm flipH="1">
            <a:off x="5486399" y="3794760"/>
            <a:ext cx="868681" cy="1097280"/>
          </a:xfrm>
          <a:prstGeom prst="line">
            <a:avLst/>
          </a:prstGeom>
          <a:ln w="22225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6355080"/>
            <a:ext cx="201168" cy="2011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72184" y="6355080"/>
            <a:ext cx="201168" cy="20116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19072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Runtime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7401" y="6355080"/>
            <a:ext cx="201168" cy="20116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74289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Gateway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2619" y="6355080"/>
            <a:ext cx="201168" cy="2011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29507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Tool/Lambda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1183" y="6355080"/>
            <a:ext cx="201168" cy="201168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48071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External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5585" y="635508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2473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Bedrock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B3D"/>
                </a:solidFill>
                <a:latin typeface="Calibri"/>
              </a:rPr>
              <a:t>Workshop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B3D"/>
                </a:solidFill>
                <a:latin typeface="Calibri"/>
              </a:rPr>
              <a:t>01  Getting Started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Set up AWS credentials, install the AgentCore Starter Toolkit, verify your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B3D"/>
                </a:solidFill>
                <a:latin typeface="Calibri"/>
              </a:rPr>
              <a:t>02  Your First Agent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Build and deploy a research assistant using Strands and BedrockAgentCoreApp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B3D"/>
                </a:solidFill>
                <a:latin typeface="Calibri"/>
              </a:rPr>
              <a:t>03  Multi-Agent Coordination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Orchestrator + search specialist system using the A2A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B3D"/>
                </a:solidFill>
                <a:latin typeface="Calibri"/>
              </a:rPr>
              <a:t>04  Research Tools</a:t>
            </a:r>
          </a:p>
          <a:p>
            <a:pPr algn="l"/>
            <a:r>
              <a:rPr sz="1500" b="0">
                <a:solidFill>
                  <a:srgbClr val="444444"/>
                </a:solidFill>
                <a:latin typeface="Calibri"/>
              </a:rPr>
              <a:t>Extend agents with external APIs (PubMed), Lambda, and MCP servers via Gateway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3D"/>
                </a:solidFill>
                <a:latin typeface="Calibri"/>
              </a:rPr>
              <a:t>Tutorial 02 — Your First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Calibri"/>
              </a:rPr>
              <a:t>simple_agent.py: a single Strands agent wrapped by BedrockAgentCoreApp, deployed to AgentCore Runtime.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737360" cy="1097280"/>
          </a:xfrm>
          <a:prstGeom prst="roundRect">
            <a:avLst/>
          </a:prstGeom>
          <a:solidFill>
            <a:srgbClr val="3747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{ "query": ... }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→ { "response"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606040"/>
            <a:ext cx="2194560" cy="1554480"/>
          </a:xfrm>
          <a:prstGeom prst="roundRect">
            <a:avLst/>
          </a:prstGeom>
          <a:solidFill>
            <a:srgbClr val="FF99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0F1B3D"/>
                </a:solidFill>
                <a:latin typeface="Calibri"/>
              </a:rPr>
              <a:t>AgentCore Runtime</a:t>
            </a:r>
          </a:p>
          <a:p>
            <a:pPr algn="ctr"/>
            <a:r>
              <a:rPr sz="900" b="0">
                <a:solidFill>
                  <a:srgbClr val="0F1B3D"/>
                </a:solidFill>
                <a:latin typeface="Calibri"/>
              </a:rPr>
              <a:t>/invocations  /ping</a:t>
            </a:r>
          </a:p>
          <a:p>
            <a:pPr algn="ctr"/>
            <a:r>
              <a:rPr sz="1000" b="0">
                <a:solidFill>
                  <a:srgbClr val="0F1B3D"/>
                </a:solidFill>
                <a:latin typeface="Calibri"/>
              </a:rPr>
              <a:t>BedrockAgentCoreApp</a:t>
            </a:r>
          </a:p>
          <a:p>
            <a:pPr algn="ctr"/>
            <a:r>
              <a:rPr sz="900" b="0">
                <a:solidFill>
                  <a:srgbClr val="0F1B3D"/>
                </a:solidFill>
                <a:latin typeface="Calibri"/>
              </a:rPr>
              <a:t>@app.entrypoint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743200"/>
            <a:ext cx="2194560" cy="1280160"/>
          </a:xfrm>
          <a:prstGeom prst="roundRect">
            <a:avLst/>
          </a:prstGeom>
          <a:solidFill>
            <a:srgbClr val="1F6F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Strands Agent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research assistant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system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743200"/>
            <a:ext cx="2743200" cy="1280160"/>
          </a:xfrm>
          <a:prstGeom prst="roundRect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Amazon Bedrock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Claude Haiku 4.5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au.anthropic...haiku-4-5</a:t>
            </a:r>
          </a:p>
        </p:txBody>
      </p:sp>
      <p:cxnSp>
        <p:nvCxnSpPr>
          <p:cNvPr id="9" name="Connector 8"/>
          <p:cNvCxnSpPr>
            <a:cxnSpLocks/>
            <a:stCxn id="5" idx="3"/>
            <a:endCxn id="6" idx="1"/>
          </p:cNvCxnSpPr>
          <p:nvPr/>
        </p:nvCxnSpPr>
        <p:spPr>
          <a:xfrm>
            <a:off x="2377440" y="3383280"/>
            <a:ext cx="54864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06270" y="4169663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payload</a:t>
            </a:r>
          </a:p>
        </p:txBody>
      </p:sp>
      <p:cxnSp>
        <p:nvCxnSpPr>
          <p:cNvPr id="11" name="Connector 10"/>
          <p:cNvCxnSpPr>
            <a:cxnSpLocks/>
            <a:stCxn id="6" idx="3"/>
            <a:endCxn id="7" idx="1"/>
          </p:cNvCxnSpPr>
          <p:nvPr/>
        </p:nvCxnSpPr>
        <p:spPr>
          <a:xfrm>
            <a:off x="5120640" y="3383280"/>
            <a:ext cx="64008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17720" y="4169663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handle_query</a:t>
            </a:r>
          </a:p>
        </p:txBody>
      </p:sp>
      <p:cxnSp>
        <p:nvCxnSpPr>
          <p:cNvPr id="13" name="Connector 12"/>
          <p:cNvCxnSpPr>
            <a:cxnSpLocks/>
            <a:stCxn id="8" idx="1"/>
            <a:endCxn id="7" idx="3"/>
          </p:cNvCxnSpPr>
          <p:nvPr/>
        </p:nvCxnSpPr>
        <p:spPr>
          <a:xfrm flipH="1">
            <a:off x="7955280" y="3383280"/>
            <a:ext cx="64008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09922" y="4119372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LLM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846320"/>
            <a:ext cx="8412480" cy="914400"/>
          </a:xfrm>
          <a:prstGeom prst="roundRect">
            <a:avLst/>
          </a:prstGeom>
          <a:solidFill>
            <a:srgbClr val="F0F2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F1B3D"/>
                </a:solidFill>
                <a:latin typeface="Calibri"/>
              </a:rPr>
              <a:t>Single-agent pattern  •  HTTP entrypoint auto-served on :8080  •  stateless request/response  •  deployed with  agentcore deploy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55080"/>
            <a:ext cx="201168" cy="201168"/>
          </a:xfrm>
          <a:prstGeom prst="rect">
            <a:avLst/>
          </a:prstGeom>
          <a:solidFill>
            <a:srgbClr val="3747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8020" y="6355080"/>
            <a:ext cx="201168" cy="20116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4908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AgentCore Runtime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51606" y="6355080"/>
            <a:ext cx="201168" cy="2011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98494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Strands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1844" y="635508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48732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Bedrock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3D"/>
                </a:solidFill>
                <a:latin typeface="Calibri"/>
              </a:rPr>
              <a:t>Tutorial 03 — Multi-Agent Coordination (A2A)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Calibri"/>
              </a:rPr>
              <a:t>Orchestrator answers simple queries directly; delegates research to the Search Specialist over the A2A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34640"/>
            <a:ext cx="1417320" cy="1005840"/>
          </a:xfrm>
          <a:prstGeom prst="roundRect">
            <a:avLst/>
          </a:prstGeom>
          <a:solidFill>
            <a:srgbClr val="3747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Client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JSON-RPC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message/send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423160"/>
            <a:ext cx="2286000" cy="1737360"/>
          </a:xfrm>
          <a:prstGeom prst="roundRect">
            <a:avLst/>
          </a:prstGeom>
          <a:solidFill>
            <a:srgbClr val="1F6F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Orchestrator Agent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A2A Server  :9000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agent-card.json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@tool search_specialist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→ direct answer (simple)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423160"/>
            <a:ext cx="2286000" cy="1737360"/>
          </a:xfrm>
          <a:prstGeom prst="roundRect">
            <a:avLst/>
          </a:prstGeom>
          <a:solidFill>
            <a:srgbClr val="1F6F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 Specialist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A2A Server  :9000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agent-card.json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@tool web_search (mock)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NullConversationMgr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743200"/>
            <a:ext cx="2377440" cy="1097280"/>
          </a:xfrm>
          <a:prstGeom prst="roundRect">
            <a:avLst/>
          </a:prstGeom>
          <a:solidFill>
            <a:srgbClr val="7A3E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A2A Protocol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SigV4HttpxAuth (IAM)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A2ACardResolver +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983480"/>
            <a:ext cx="3291840" cy="868680"/>
          </a:xfrm>
          <a:prstGeom prst="roundRect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Amazon Bedrock — Claude Haiku 4.5</a:t>
            </a:r>
          </a:p>
        </p:txBody>
      </p:sp>
      <p:cxnSp>
        <p:nvCxnSpPr>
          <p:cNvPr id="10" name="Connector 9"/>
          <p:cNvCxnSpPr>
            <a:cxnSpLocks/>
            <a:stCxn id="5" idx="3"/>
            <a:endCxn id="6" idx="1"/>
          </p:cNvCxnSpPr>
          <p:nvPr/>
        </p:nvCxnSpPr>
        <p:spPr>
          <a:xfrm flipV="1">
            <a:off x="1920240" y="3291840"/>
            <a:ext cx="411480" cy="4572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9459" y="4218709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invoke</a:t>
            </a:r>
          </a:p>
        </p:txBody>
      </p:sp>
      <p:cxnSp>
        <p:nvCxnSpPr>
          <p:cNvPr id="12" name="Connector 11"/>
          <p:cNvCxnSpPr>
            <a:cxnSpLocks/>
            <a:stCxn id="6" idx="3"/>
            <a:endCxn id="8" idx="1"/>
          </p:cNvCxnSpPr>
          <p:nvPr/>
        </p:nvCxnSpPr>
        <p:spPr>
          <a:xfrm>
            <a:off x="4617720" y="3291840"/>
            <a:ext cx="41148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977165" y="4320539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delegate</a:t>
            </a:r>
          </a:p>
        </p:txBody>
      </p:sp>
      <p:cxnSp>
        <p:nvCxnSpPr>
          <p:cNvPr id="14" name="Connector 13"/>
          <p:cNvCxnSpPr>
            <a:cxnSpLocks/>
            <a:stCxn id="8" idx="3"/>
            <a:endCxn id="7" idx="1"/>
          </p:cNvCxnSpPr>
          <p:nvPr/>
        </p:nvCxnSpPr>
        <p:spPr>
          <a:xfrm>
            <a:off x="7406640" y="3291840"/>
            <a:ext cx="36576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66560" y="4354829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send_message</a:t>
            </a:r>
          </a:p>
        </p:txBody>
      </p:sp>
      <p:cxnSp>
        <p:nvCxnSpPr>
          <p:cNvPr id="16" name="Connector 15"/>
          <p:cNvCxnSpPr>
            <a:cxnSpLocks/>
            <a:stCxn id="6" idx="2"/>
            <a:endCxn id="9" idx="0"/>
          </p:cNvCxnSpPr>
          <p:nvPr/>
        </p:nvCxnSpPr>
        <p:spPr>
          <a:xfrm>
            <a:off x="3474720" y="4160520"/>
            <a:ext cx="2606040" cy="822960"/>
          </a:xfrm>
          <a:prstGeom prst="line">
            <a:avLst/>
          </a:prstGeom>
          <a:ln w="22225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7" idx="2"/>
            <a:endCxn id="9" idx="0"/>
          </p:cNvCxnSpPr>
          <p:nvPr/>
        </p:nvCxnSpPr>
        <p:spPr>
          <a:xfrm flipH="1">
            <a:off x="6080760" y="4160520"/>
            <a:ext cx="2834640" cy="822960"/>
          </a:xfrm>
          <a:prstGeom prst="line">
            <a:avLst/>
          </a:prstGeom>
          <a:ln w="22225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331720" y="5074920"/>
            <a:ext cx="1737360" cy="731520"/>
          </a:xfrm>
          <a:prstGeom prst="roundRect">
            <a:avLst/>
          </a:prstGeom>
          <a:solidFill>
            <a:srgbClr val="FFF3D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>
                <a:solidFill>
                  <a:srgbClr val="0F1B3D"/>
                </a:solidFill>
                <a:latin typeface="Calibri"/>
              </a:rPr>
              <a:t>Both agents on</a:t>
            </a:r>
          </a:p>
          <a:p>
            <a:pPr algn="ctr"/>
            <a:r>
              <a:rPr sz="1100" b="0">
                <a:solidFill>
                  <a:srgbClr val="0F1B3D"/>
                </a:solidFill>
                <a:latin typeface="Calibri"/>
              </a:rPr>
              <a:t>AgentCore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5074920"/>
            <a:ext cx="1828800" cy="731520"/>
          </a:xfrm>
          <a:prstGeom prst="roundRect">
            <a:avLst/>
          </a:prstGeom>
          <a:solidFill>
            <a:srgbClr val="F0F2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800" b="1">
                <a:solidFill>
                  <a:srgbClr val="0F1B3D"/>
                </a:solidFill>
                <a:latin typeface="Calibri"/>
              </a:rPr>
              <a:t>AGENTCORE_RUNTIME_URL</a:t>
            </a:r>
          </a:p>
          <a:p>
            <a:pPr algn="ctr"/>
            <a:r>
              <a:rPr sz="800" b="0">
                <a:solidFill>
                  <a:srgbClr val="0F1B3D"/>
                </a:solidFill>
                <a:latin typeface="Calibri"/>
              </a:rPr>
              <a:t>SEARCH_SPECIALIST_URL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55080"/>
            <a:ext cx="201168" cy="2011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A2A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5531" y="6355080"/>
            <a:ext cx="201168" cy="20116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82419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A2A transport / SigV4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2464" y="635508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59352" y="631850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Bedrock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1B3D"/>
                </a:solidFill>
                <a:latin typeface="Calibri"/>
              </a:rPr>
              <a:t>Tutorial 04 — Research Tools via MCP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Calibri"/>
              </a:rPr>
              <a:t>The Search Specialist discovers tools from one IAM-secured MCP Gateway fronting three target types.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2286000" cy="1554480"/>
          </a:xfrm>
          <a:prstGeom prst="roundRect">
            <a:avLst/>
          </a:prstGeom>
          <a:solidFill>
            <a:srgbClr val="1F6FB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 Specialist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@tool web_search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MCPClient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(aws_iam_streamablehttp)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377440"/>
            <a:ext cx="2468880" cy="2194560"/>
          </a:xfrm>
          <a:prstGeom prst="roundRect">
            <a:avLst/>
          </a:prstGeom>
          <a:solidFill>
            <a:srgbClr val="7A3E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MCP Gateway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(AgentCore)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• IAM SigV4 auth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• SEMANTIC discovery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• rate limit / transform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• error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325880"/>
            <a:ext cx="2286000" cy="1051560"/>
          </a:xfrm>
          <a:prstGeom prst="roundRect">
            <a:avLst/>
          </a:prstGeom>
          <a:solidFill>
            <a:srgbClr val="6B5B9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PubMed Target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OpenAPI schema (S3)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pubmed___searchPubMed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788920"/>
            <a:ext cx="2286000" cy="1051560"/>
          </a:xfrm>
          <a:prstGeom prst="roundRect">
            <a:avLst/>
          </a:prstGeom>
          <a:solidFill>
            <a:srgbClr val="2E8B5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Citation Manager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Lambda target (SAM)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APA / MLA / Chicago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251960"/>
            <a:ext cx="2286000" cy="1051560"/>
          </a:xfrm>
          <a:prstGeom prst="roundRect">
            <a:avLst/>
          </a:prstGeom>
          <a:solidFill>
            <a:srgbClr val="2E8B5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Paper Summaries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MCP server target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FastMCP on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417320"/>
            <a:ext cx="1828800" cy="868680"/>
          </a:xfrm>
          <a:prstGeom prst="roundRect">
            <a:avLst/>
          </a:prstGeom>
          <a:solidFill>
            <a:srgbClr val="6B5B9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PubMed REST API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ncbi.nlm.nih.gov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880360"/>
            <a:ext cx="1828800" cy="868680"/>
          </a:xfrm>
          <a:prstGeom prst="roundRect">
            <a:avLst/>
          </a:prstGeom>
          <a:solidFill>
            <a:srgbClr val="2E8B5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AWS Lambda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citation-manager-dev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343400"/>
            <a:ext cx="1828800" cy="868680"/>
          </a:xfrm>
          <a:prstGeom prst="roundRect">
            <a:avLst/>
          </a:prstGeom>
          <a:solidFill>
            <a:srgbClr val="2E8B5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FastMCP Server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AgentCore Runtime</a:t>
            </a:r>
          </a:p>
        </p:txBody>
      </p:sp>
      <p:cxnSp>
        <p:nvCxnSpPr>
          <p:cNvPr id="13" name="Connector 12"/>
          <p:cNvCxnSpPr>
            <a:cxnSpLocks/>
            <a:stCxn id="5" idx="3"/>
            <a:endCxn id="6" idx="1"/>
          </p:cNvCxnSpPr>
          <p:nvPr/>
        </p:nvCxnSpPr>
        <p:spPr>
          <a:xfrm>
            <a:off x="2834640" y="3474720"/>
            <a:ext cx="82296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50008" y="1670444"/>
            <a:ext cx="16459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Consolas"/>
              </a:rPr>
              <a:t>discover/call</a:t>
            </a:r>
          </a:p>
        </p:txBody>
      </p:sp>
      <p:cxnSp>
        <p:nvCxnSpPr>
          <p:cNvPr id="15" name="Connector 14"/>
          <p:cNvCxnSpPr>
            <a:cxnSpLocks/>
            <a:stCxn id="6" idx="3"/>
            <a:endCxn id="7" idx="1"/>
          </p:cNvCxnSpPr>
          <p:nvPr/>
        </p:nvCxnSpPr>
        <p:spPr>
          <a:xfrm flipV="1">
            <a:off x="6126480" y="1851660"/>
            <a:ext cx="914400" cy="162306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6" idx="3"/>
            <a:endCxn id="8" idx="1"/>
          </p:cNvCxnSpPr>
          <p:nvPr/>
        </p:nvCxnSpPr>
        <p:spPr>
          <a:xfrm flipV="1">
            <a:off x="6126480" y="3314700"/>
            <a:ext cx="914400" cy="16002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stCxn id="6" idx="3"/>
            <a:endCxn id="9" idx="1"/>
          </p:cNvCxnSpPr>
          <p:nvPr/>
        </p:nvCxnSpPr>
        <p:spPr>
          <a:xfrm>
            <a:off x="6126480" y="3474720"/>
            <a:ext cx="914400" cy="130302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  <a:stCxn id="7" idx="3"/>
            <a:endCxn id="10" idx="1"/>
          </p:cNvCxnSpPr>
          <p:nvPr/>
        </p:nvCxnSpPr>
        <p:spPr>
          <a:xfrm>
            <a:off x="9326880" y="1851660"/>
            <a:ext cx="73152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8" idx="3"/>
            <a:endCxn id="11" idx="1"/>
          </p:cNvCxnSpPr>
          <p:nvPr/>
        </p:nvCxnSpPr>
        <p:spPr>
          <a:xfrm>
            <a:off x="9326880" y="3314700"/>
            <a:ext cx="73152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stCxn id="9" idx="3"/>
            <a:endCxn id="12" idx="1"/>
          </p:cNvCxnSpPr>
          <p:nvPr/>
        </p:nvCxnSpPr>
        <p:spPr>
          <a:xfrm>
            <a:off x="9326880" y="4777740"/>
            <a:ext cx="731520" cy="0"/>
          </a:xfrm>
          <a:prstGeom prst="line">
            <a:avLst/>
          </a:prstGeom>
          <a:ln w="22225">
            <a:solidFill>
              <a:srgbClr val="6670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48640" y="5989320"/>
            <a:ext cx="201168" cy="20116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595274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72184" y="5989320"/>
            <a:ext cx="201168" cy="20116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19072" y="595274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MCP Gateway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90748" y="5989320"/>
            <a:ext cx="201168" cy="201168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7636" y="595274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OpenAPI / External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0171" y="5989320"/>
            <a:ext cx="201168" cy="2011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7059" y="5952744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  <a:latin typeface="Calibri"/>
              </a:rPr>
              <a:t>Lambda /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B3D"/>
                </a:solidFill>
                <a:latin typeface="Calibri"/>
              </a:rP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44444"/>
                </a:solidFill>
                <a:latin typeface="Calibri"/>
              </a:rPr>
              <a:t>• Python 3.11+</a:t>
            </a:r>
          </a:p>
          <a:p>
            <a:pPr algn="l"/>
            <a:r>
              <a:rPr sz="2400" b="0">
                <a:solidFill>
                  <a:srgbClr val="444444"/>
                </a:solidFill>
                <a:latin typeface="Calibri"/>
              </a:rPr>
              <a:t>• AWS account with admin access and Bedrock model access enabled</a:t>
            </a:r>
          </a:p>
          <a:p>
            <a:pPr algn="l"/>
            <a:r>
              <a:rPr sz="2400" b="0">
                <a:solidFill>
                  <a:srgbClr val="444444"/>
                </a:solidFill>
                <a:latin typeface="Calibri"/>
              </a:rPr>
              <a:t>• AWS CLI configured (aws configure)</a:t>
            </a:r>
          </a:p>
          <a:p>
            <a:pPr algn="l"/>
            <a:r>
              <a:rPr sz="2400" b="0">
                <a:solidFill>
                  <a:srgbClr val="444444"/>
                </a:solidFill>
                <a:latin typeface="Calibri"/>
              </a:rPr>
              <a:t>• uv package manager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8BE82-A692-E465-0EA3-7723A1AD1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450" y="3271520"/>
            <a:ext cx="2959100" cy="294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571</Words>
  <Application>Microsoft Macintosh PowerPoint</Application>
  <PresentationFormat>Widescreen</PresentationFormat>
  <Paragraphs>138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Daghan Acay</cp:lastModifiedBy>
  <cp:revision>5</cp:revision>
  <dcterms:created xsi:type="dcterms:W3CDTF">2013-01-27T09:14:16Z</dcterms:created>
  <dcterms:modified xsi:type="dcterms:W3CDTF">2026-06-10T06:10:11Z</dcterms:modified>
  <cp:category/>
</cp:coreProperties>
</file>